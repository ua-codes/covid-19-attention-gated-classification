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1" r:id="rId9"/>
    <p:sldId id="262" r:id="rId10"/>
    <p:sldId id="263" r:id="rId11"/>
    <p:sldId id="264" r:id="rId12"/>
    <p:sldId id="269" r:id="rId13"/>
    <p:sldId id="265" r:id="rId14"/>
    <p:sldId id="266" r:id="rId15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9C4189-D21E-46F8-8BD2-263BEA24F9C2}">
  <a:tblStyle styleId="{239C4189-D21E-46F8-8BD2-263BEA24F9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144837D2-2BBA-B56A-4E15-8E0AB2ABE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32C06DC9-DA67-705E-7555-3A2751CCDA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BA221D31-456F-FC3F-3949-38FBC0664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9CA33FB7-2F66-BB3E-E31A-5549B2768B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925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79DCB30-DBA2-C752-18EC-E8E336FB7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28F485C3-BC3E-E725-2165-AC54A3E0A1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5:notes">
            <a:extLst>
              <a:ext uri="{FF2B5EF4-FFF2-40B4-BE49-F238E27FC236}">
                <a16:creationId xmlns:a16="http://schemas.microsoft.com/office/drawing/2014/main" id="{BFB8908F-9586-B2A9-953F-6543EB752F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>
            <a:extLst>
              <a:ext uri="{FF2B5EF4-FFF2-40B4-BE49-F238E27FC236}">
                <a16:creationId xmlns:a16="http://schemas.microsoft.com/office/drawing/2014/main" id="{3F8D3C8E-95FB-E156-C44C-B1D4B5351F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311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A8A8A">
              <a:alpha val="14901"/>
            </a:srgbClr>
          </a:solidFill>
          <a:ln w="12700" cap="flat" cmpd="sng">
            <a:solidFill>
              <a:srgbClr val="0A8A8A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73152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Reproducing a Hybrid Neuro-Symbolic Framework for COVID-19 CT Classification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27889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An AGCA Model Implementation Study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3246120"/>
            <a:ext cx="5486400" cy="36576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6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Umra Amir  ·  Zain Ul Abideen  ·  Nageen Ahsan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Department of Artificial Intelligence, FAST-NUCES Islamabad, Pakistan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Deep Learning Project Presentation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6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Presentation Outline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57200" y="1097280"/>
            <a:ext cx="41148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1097280"/>
            <a:ext cx="457200" cy="804672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12984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05840" y="117043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Motivation &amp; Problem Statement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005840" y="151790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Why COVID-19 CT analysis? Why domain shift matters?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2029968"/>
            <a:ext cx="41148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57200" y="2029968"/>
            <a:ext cx="457200" cy="804672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57200" y="223113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05840" y="2103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05840" y="24505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Deep learning, Symbolic AI, Domain Adaptation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2962656"/>
            <a:ext cx="41148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57200" y="2962656"/>
            <a:ext cx="457200" cy="804672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57200" y="316382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005840" y="303580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Datasets &amp; Preprocessing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05840" y="3383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 public CT datasets, 11,000 images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3895344"/>
            <a:ext cx="41148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3895344"/>
            <a:ext cx="457200" cy="804672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57200" y="409651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005840" y="396849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AGCA Architecture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05840" y="431596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Attention backbone, symbolic head, uncertainty fusion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800600" y="1097280"/>
            <a:ext cx="41148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800600" y="1097280"/>
            <a:ext cx="457200" cy="804672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4800600" y="12984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349240" y="117043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Results &amp; Analysis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349240" y="151790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96.91% accuracy, AUC 0.994–1.000, Grad-CAM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800600" y="2029968"/>
            <a:ext cx="41148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800600" y="2029968"/>
            <a:ext cx="457200" cy="804672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800600" y="223113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349240" y="2103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Ablation &amp; Cross-Domain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349240" y="24505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Symbolic gain, domain shift analysis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800600" y="2962656"/>
            <a:ext cx="41148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800600" y="2962656"/>
            <a:ext cx="457200" cy="804672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4800600" y="316382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349240" y="303580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Limitations &amp; Future Work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49240" y="3383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Missing DAFA, U-Net, deformable convolutions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800600" y="3895344"/>
            <a:ext cx="41148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800600" y="3895344"/>
            <a:ext cx="457200" cy="804672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800600" y="409651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349240" y="396849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349240" y="431596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Validated base paper under constrained compute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6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Motivation &amp; Problem Statement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57200" y="1078992"/>
            <a:ext cx="3931920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1078992"/>
            <a:ext cx="64008" cy="137160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94360" y="117043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8A8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8A8A"/>
                </a:solidFill>
                <a:latin typeface="Calibri"/>
                <a:ea typeface="Calibri"/>
                <a:cs typeface="Calibri"/>
                <a:sym typeface="Calibri"/>
              </a:rPr>
              <a:t>🏥  Clinical Challenge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94360" y="1463040"/>
            <a:ext cx="37033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models achieve &gt;99% accuracy on curated single datasets but fail in real hospital deployment due to domain shift (scanner models, protocols, patient demographics).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2542032"/>
            <a:ext cx="3931920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57200" y="2542032"/>
            <a:ext cx="64008" cy="137160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94360" y="263347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8A8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8A8A"/>
                </a:solidFill>
                <a:latin typeface="Calibri"/>
                <a:ea typeface="Calibri"/>
                <a:cs typeface="Calibri"/>
                <a:sym typeface="Calibri"/>
              </a:rPr>
              <a:t>🔍  Base Paper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94360" y="2926080"/>
            <a:ext cx="37033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Musanga, Chibaya &amp; Viriri (2026) proposed a hybrid neuro-symbolic framework combining ResNet-50, adversarial domain adaptation (DAFA), and symbolic clinical rules for COVID-19 CT classification.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" y="4005072"/>
            <a:ext cx="3931920" cy="868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57200" y="4005072"/>
            <a:ext cx="64008" cy="86868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94360" y="409651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8A8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8A8A"/>
                </a:solidFill>
                <a:latin typeface="Calibri"/>
                <a:ea typeface="Calibri"/>
                <a:cs typeface="Calibri"/>
                <a:sym typeface="Calibri"/>
              </a:rPr>
              <a:t>🎯  Our Goal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94360" y="438912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Reproduce and validate the core architecture on Google Colab (Tesla T4) under limited compute, using the same four public datasets.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663440" y="1078992"/>
            <a:ext cx="4114800" cy="3794760"/>
          </a:xfrm>
          <a:prstGeom prst="rect">
            <a:avLst/>
          </a:prstGeom>
          <a:solidFill>
            <a:srgbClr val="1A3047"/>
          </a:solidFill>
          <a:ln w="12700" cap="flat" cmpd="sng">
            <a:solidFill>
              <a:srgbClr val="1A30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Key Claims to Validate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754880" y="1600200"/>
            <a:ext cx="1828800" cy="118872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754880" y="170992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97.7%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754880" y="21671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Accuracy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720840" y="1600200"/>
            <a:ext cx="1828800" cy="1188720"/>
          </a:xfrm>
          <a:prstGeom prst="rect">
            <a:avLst/>
          </a:prstGeom>
          <a:solidFill>
            <a:srgbClr val="263047"/>
          </a:solidFill>
          <a:ln w="12700" cap="flat" cmpd="sng">
            <a:solidFill>
              <a:srgbClr val="2630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720840" y="170992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0.996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720840" y="21671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754880" y="2971800"/>
            <a:ext cx="1828800" cy="118872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754880" y="308152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Datasets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754880" y="35387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Cross-domain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720840" y="2971800"/>
            <a:ext cx="1828800" cy="1188720"/>
          </a:xfrm>
          <a:prstGeom prst="rect">
            <a:avLst/>
          </a:prstGeom>
          <a:solidFill>
            <a:srgbClr val="263047"/>
          </a:solidFill>
          <a:ln w="12700" cap="flat" cmpd="sng">
            <a:solidFill>
              <a:srgbClr val="2630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6720840" y="308152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AI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720840" y="35387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 + Symbolic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720840" y="1600200"/>
            <a:ext cx="1828800" cy="1188720"/>
          </a:xfrm>
          <a:prstGeom prst="rect">
            <a:avLst/>
          </a:prstGeom>
          <a:solidFill>
            <a:srgbClr val="1C4D6B"/>
          </a:solidFill>
          <a:ln w="12700" cap="flat" cmpd="sng">
            <a:solidFill>
              <a:srgbClr val="1C4D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6720840" y="170992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0.996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720840" y="21671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720840" y="2971800"/>
            <a:ext cx="1828800" cy="1188720"/>
          </a:xfrm>
          <a:prstGeom prst="rect">
            <a:avLst/>
          </a:prstGeom>
          <a:solidFill>
            <a:srgbClr val="1C4D6B"/>
          </a:solidFill>
          <a:ln w="12700" cap="flat" cmpd="sng">
            <a:solidFill>
              <a:srgbClr val="1C4D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720840" y="308152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AI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720840" y="35387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 + Symbolic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6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Datasets &amp; Preprocessing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16" name="Google Shape;116;p6"/>
          <p:cNvGraphicFramePr/>
          <p:nvPr/>
        </p:nvGraphicFramePr>
        <p:xfrm>
          <a:off x="457200" y="1097280"/>
          <a:ext cx="8229600" cy="1920250"/>
        </p:xfrm>
        <a:graphic>
          <a:graphicData uri="http://schemas.openxmlformats.org/drawingml/2006/table">
            <a:tbl>
              <a:tblPr>
                <a:noFill/>
                <a:tableStyleId>{239C4189-D21E-46F8-8BD2-263BEA24F9C2}</a:tableStyleId>
              </a:tblPr>
              <a:tblGrid>
                <a:gridCol w="192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Images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Classes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Split (N≈11K)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COVID-CT-MD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43,322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DICOM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 / COVID / CAP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~8,868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Kaggle Lung CT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8,439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PNG/JPG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 / COVID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~1,942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BMIC2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PNG/JPG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Non-COVID / COVID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~130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MosMedData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NIfTI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 / COVID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7" name="Google Shape;117;p6"/>
          <p:cNvSpPr/>
          <p:nvPr/>
        </p:nvSpPr>
        <p:spPr>
          <a:xfrm>
            <a:off x="457200" y="3154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Class Distribution (11,000 samples)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3547872"/>
            <a:ext cx="1234440" cy="128016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36118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23.8%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411480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2,620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828800" y="3547872"/>
            <a:ext cx="1234440" cy="12801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828800" y="36118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59.2%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828800" y="411480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6,516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COVID-19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200400" y="3547872"/>
            <a:ext cx="1234440" cy="12801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3200400" y="36118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16.9%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200400" y="411480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1,864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Pneumonia/CAP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663440" y="3154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Preprocessing Pipeline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663440" y="352044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DICOM → invert MONOCHROME1 | NIfTI → middle axial slice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Resize all to 224×224 px → 3-channel RGB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Augment: flip, ±15° rotation, ±20% brightness/contrast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WeightedRandomSampler + class-weighted cross-entropy loss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80/10/10 stratified train/val/test split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6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DB1D54A1-D1EE-ED08-6C22-B921091F7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>
            <a:extLst>
              <a:ext uri="{FF2B5EF4-FFF2-40B4-BE49-F238E27FC236}">
                <a16:creationId xmlns:a16="http://schemas.microsoft.com/office/drawing/2014/main" id="{78BF9082-8C6B-6FC0-2D8C-7332963C9BD9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Train/Val/Test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>
            <a:extLst>
              <a:ext uri="{FF2B5EF4-FFF2-40B4-BE49-F238E27FC236}">
                <a16:creationId xmlns:a16="http://schemas.microsoft.com/office/drawing/2014/main" id="{3435C445-3192-2828-9CC3-A49BA885F423}"/>
              </a:ext>
            </a:extLst>
          </p:cNvPr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>
            <a:extLst>
              <a:ext uri="{FF2B5EF4-FFF2-40B4-BE49-F238E27FC236}">
                <a16:creationId xmlns:a16="http://schemas.microsoft.com/office/drawing/2014/main" id="{FBC3193D-CE90-6A9D-086F-5D9FEFF8A365}"/>
              </a:ext>
            </a:extLst>
          </p:cNvPr>
          <p:cNvSpPr/>
          <p:nvPr/>
        </p:nvSpPr>
        <p:spPr>
          <a:xfrm>
            <a:off x="2420112" y="128244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Class Distribution (11,000 samples)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>
            <a:extLst>
              <a:ext uri="{FF2B5EF4-FFF2-40B4-BE49-F238E27FC236}">
                <a16:creationId xmlns:a16="http://schemas.microsoft.com/office/drawing/2014/main" id="{33C152EF-907E-8771-2454-DFFBACC35840}"/>
              </a:ext>
            </a:extLst>
          </p:cNvPr>
          <p:cNvSpPr/>
          <p:nvPr/>
        </p:nvSpPr>
        <p:spPr>
          <a:xfrm>
            <a:off x="2420112" y="1675638"/>
            <a:ext cx="1234440" cy="128016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>
            <a:extLst>
              <a:ext uri="{FF2B5EF4-FFF2-40B4-BE49-F238E27FC236}">
                <a16:creationId xmlns:a16="http://schemas.microsoft.com/office/drawing/2014/main" id="{7EBCB65F-C916-438A-6D83-3E595FBF42D1}"/>
              </a:ext>
            </a:extLst>
          </p:cNvPr>
          <p:cNvSpPr/>
          <p:nvPr/>
        </p:nvSpPr>
        <p:spPr>
          <a:xfrm>
            <a:off x="2420112" y="1739646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>
            <a:extLst>
              <a:ext uri="{FF2B5EF4-FFF2-40B4-BE49-F238E27FC236}">
                <a16:creationId xmlns:a16="http://schemas.microsoft.com/office/drawing/2014/main" id="{CE19237E-4C60-D160-BD4E-F0E62D7A7BA1}"/>
              </a:ext>
            </a:extLst>
          </p:cNvPr>
          <p:cNvSpPr/>
          <p:nvPr/>
        </p:nvSpPr>
        <p:spPr>
          <a:xfrm>
            <a:off x="2420112" y="224256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8,800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>
            <a:extLst>
              <a:ext uri="{FF2B5EF4-FFF2-40B4-BE49-F238E27FC236}">
                <a16:creationId xmlns:a16="http://schemas.microsoft.com/office/drawing/2014/main" id="{9B926400-AC08-A90B-4FD4-74C556097A6D}"/>
              </a:ext>
            </a:extLst>
          </p:cNvPr>
          <p:cNvSpPr/>
          <p:nvPr/>
        </p:nvSpPr>
        <p:spPr>
          <a:xfrm>
            <a:off x="3791712" y="1675638"/>
            <a:ext cx="1234440" cy="12801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">
            <a:extLst>
              <a:ext uri="{FF2B5EF4-FFF2-40B4-BE49-F238E27FC236}">
                <a16:creationId xmlns:a16="http://schemas.microsoft.com/office/drawing/2014/main" id="{D7F9EB13-55D0-5CC1-46B7-BAB24EB18A8A}"/>
              </a:ext>
            </a:extLst>
          </p:cNvPr>
          <p:cNvSpPr/>
          <p:nvPr/>
        </p:nvSpPr>
        <p:spPr>
          <a:xfrm>
            <a:off x="3791712" y="1739646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>
            <a:extLst>
              <a:ext uri="{FF2B5EF4-FFF2-40B4-BE49-F238E27FC236}">
                <a16:creationId xmlns:a16="http://schemas.microsoft.com/office/drawing/2014/main" id="{EBBE949E-971C-E3F3-3889-DE1C19A7055B}"/>
              </a:ext>
            </a:extLst>
          </p:cNvPr>
          <p:cNvSpPr/>
          <p:nvPr/>
        </p:nvSpPr>
        <p:spPr>
          <a:xfrm>
            <a:off x="3791712" y="224256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1,100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>
            <a:extLst>
              <a:ext uri="{FF2B5EF4-FFF2-40B4-BE49-F238E27FC236}">
                <a16:creationId xmlns:a16="http://schemas.microsoft.com/office/drawing/2014/main" id="{83A807C0-60EA-86E0-476C-D4AF81EB8740}"/>
              </a:ext>
            </a:extLst>
          </p:cNvPr>
          <p:cNvSpPr/>
          <p:nvPr/>
        </p:nvSpPr>
        <p:spPr>
          <a:xfrm>
            <a:off x="5163312" y="1675638"/>
            <a:ext cx="1234440" cy="12801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>
            <a:extLst>
              <a:ext uri="{FF2B5EF4-FFF2-40B4-BE49-F238E27FC236}">
                <a16:creationId xmlns:a16="http://schemas.microsoft.com/office/drawing/2014/main" id="{7759AE23-972C-39D9-6415-030E05148888}"/>
              </a:ext>
            </a:extLst>
          </p:cNvPr>
          <p:cNvSpPr/>
          <p:nvPr/>
        </p:nvSpPr>
        <p:spPr>
          <a:xfrm>
            <a:off x="5163312" y="1739646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62B84EEA-F039-4E5D-D9D2-2C9E93CBB605}"/>
              </a:ext>
            </a:extLst>
          </p:cNvPr>
          <p:cNvSpPr/>
          <p:nvPr/>
        </p:nvSpPr>
        <p:spPr>
          <a:xfrm>
            <a:off x="5163312" y="224256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1,100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317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AGCA Hybrid Model Architecture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80125" y="1421823"/>
            <a:ext cx="1081200" cy="1706400"/>
          </a:xfrm>
          <a:prstGeom prst="rect">
            <a:avLst/>
          </a:prstGeom>
          <a:solidFill>
            <a:srgbClr val="1A3047"/>
          </a:solidFill>
          <a:ln w="12700" cap="flat" cmpd="sng">
            <a:solidFill>
              <a:srgbClr val="1A30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80125" y="1517746"/>
            <a:ext cx="10812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ResNet-50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29188" y="2581357"/>
            <a:ext cx="9831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889222" y="1455738"/>
            <a:ext cx="1081200" cy="170640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897361" y="1558323"/>
            <a:ext cx="1081200" cy="1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Attention Gate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897361" y="2496683"/>
            <a:ext cx="1081200" cy="5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298320" y="1421823"/>
            <a:ext cx="1081200" cy="1706400"/>
          </a:xfrm>
          <a:prstGeom prst="rect">
            <a:avLst/>
          </a:prstGeom>
          <a:solidFill>
            <a:srgbClr val="1C4D6B"/>
          </a:solidFill>
          <a:ln w="10575" cap="flat" cmpd="sng">
            <a:solidFill>
              <a:srgbClr val="1C4D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75" tIns="76175" rIns="76175" bIns="76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3298330" y="1535577"/>
            <a:ext cx="1081200" cy="9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Classifier Head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298320" y="2530876"/>
            <a:ext cx="10812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762880" y="1421823"/>
            <a:ext cx="1081200" cy="1706400"/>
          </a:xfrm>
          <a:prstGeom prst="rect">
            <a:avLst/>
          </a:prstGeom>
          <a:solidFill>
            <a:srgbClr val="0A8A8A"/>
          </a:solidFill>
          <a:ln w="8075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975" tIns="57975" rIns="57975" bIns="57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762880" y="1535601"/>
            <a:ext cx="1081200" cy="9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1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Symbolic Indicator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762880" y="2531153"/>
            <a:ext cx="10812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571"/>
              <a:buFont typeface="Calibri"/>
              <a:buNone/>
            </a:pPr>
            <a:endParaRPr sz="571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116514" y="1421917"/>
            <a:ext cx="1081200" cy="1706400"/>
          </a:xfrm>
          <a:prstGeom prst="rect">
            <a:avLst/>
          </a:prstGeom>
          <a:solidFill>
            <a:srgbClr val="1C4D6B"/>
          </a:solidFill>
          <a:ln w="10575" cap="flat" cmpd="sng">
            <a:solidFill>
              <a:srgbClr val="1C4D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75" tIns="76175" rIns="76175" bIns="76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116514" y="1535649"/>
            <a:ext cx="1081200" cy="9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Engine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116514" y="2530809"/>
            <a:ext cx="10812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628400" y="1455738"/>
            <a:ext cx="1081200" cy="1706400"/>
          </a:xfrm>
          <a:prstGeom prst="rect">
            <a:avLst/>
          </a:prstGeom>
          <a:solidFill>
            <a:srgbClr val="0A8A8A"/>
          </a:solidFill>
          <a:ln w="10575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75" tIns="76175" rIns="76175" bIns="76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628400" y="1569476"/>
            <a:ext cx="1081200" cy="9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Classes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628400" y="2564688"/>
            <a:ext cx="10812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38AFC233-A907-00EE-5344-81FC872D9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CC506F-9465-E28D-1435-FCC599AC7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0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81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Training Configuration &amp; Dynamics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70" name="Google Shape;170;p8"/>
          <p:cNvGraphicFramePr/>
          <p:nvPr/>
        </p:nvGraphicFramePr>
        <p:xfrm>
          <a:off x="457200" y="1097280"/>
          <a:ext cx="3474725" cy="3703250"/>
        </p:xfrm>
        <a:graphic>
          <a:graphicData uri="http://schemas.openxmlformats.org/drawingml/2006/table">
            <a:tbl>
              <a:tblPr>
                <a:noFill/>
                <a:tableStyleId>{239C4189-D21E-46F8-8BD2-263BEA24F9C2}</a:tableStyleId>
              </a:tblPr>
              <a:tblGrid>
                <a:gridCol w="20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Optimizer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 Rate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1e-4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 Decay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1e-4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Batch Size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Epochs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(best @ 3)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 Scheduler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Cosine Annealing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 Clip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λ indicator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 Size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224×224 px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Tesla T4 (Colab)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1" name="Google Shape;171;p8"/>
          <p:cNvSpPr/>
          <p:nvPr/>
        </p:nvSpPr>
        <p:spPr>
          <a:xfrm>
            <a:off x="4114800" y="10972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Per-Epoch Training History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2" name="Google Shape;172;p8"/>
          <p:cNvGraphicFramePr/>
          <p:nvPr/>
        </p:nvGraphicFramePr>
        <p:xfrm>
          <a:off x="4114800" y="1417328"/>
          <a:ext cx="4663450" cy="3291750"/>
        </p:xfrm>
        <a:graphic>
          <a:graphicData uri="http://schemas.openxmlformats.org/drawingml/2006/table">
            <a:tbl>
              <a:tblPr>
                <a:noFill/>
                <a:tableStyleId>{239C4189-D21E-46F8-8BD2-263BEA24F9C2}</a:tableStyleId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Epoch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 Acc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 F1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0.0480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96.09%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0.9605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0.0374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96.91%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0.9691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 ★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0.0303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97.55%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8A8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A8A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0.9755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0.0365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97.18%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0.9718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0.0287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97.00%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0.0407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96.45%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0.9647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0.0475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94.64%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0.9469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0.1303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92.00%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0.9201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3" name="Google Shape;173;p8"/>
          <p:cNvSpPr/>
          <p:nvPr/>
        </p:nvSpPr>
        <p:spPr>
          <a:xfrm>
            <a:off x="4114800" y="4686295"/>
            <a:ext cx="466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★ Best checkpoint saved at Epoch 3 (Val Acc = 97.55%). Model converged quickly; cosine annealing caused oscillation in later epochs.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Test Set Performance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57200" y="1097280"/>
            <a:ext cx="1920240" cy="114300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457200" y="117043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96.91%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2606040" y="1097280"/>
            <a:ext cx="1920240" cy="114300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2606040" y="117043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0.994–1.000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260604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AUC-ROC Range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754880" y="1097280"/>
            <a:ext cx="1920240" cy="114300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4754880" y="117043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0.9691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7548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Weighted F1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903720" y="1097280"/>
            <a:ext cx="1920240" cy="1143000"/>
          </a:xfrm>
          <a:prstGeom prst="rect">
            <a:avLst/>
          </a:prstGeom>
          <a:solidFill>
            <a:srgbClr val="1C4D6B"/>
          </a:solidFill>
          <a:ln w="12700" cap="flat" cmpd="sng">
            <a:solidFill>
              <a:srgbClr val="1C4D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6903720" y="117043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97.7%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90372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Base Paper Acc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57200" y="23957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Comparison vs. Base Paper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9"/>
          <p:cNvGraphicFramePr/>
          <p:nvPr/>
        </p:nvGraphicFramePr>
        <p:xfrm>
          <a:off x="457200" y="2788920"/>
          <a:ext cx="4114800" cy="2194640"/>
        </p:xfrm>
        <a:graphic>
          <a:graphicData uri="http://schemas.openxmlformats.org/drawingml/2006/table">
            <a:tbl>
              <a:tblPr>
                <a:noFill/>
                <a:tableStyleId>{239C4189-D21E-46F8-8BD2-263BEA24F9C2}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[1]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0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96.91%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0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97.7%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5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96.92%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5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97.4%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0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96.91%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0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97.9%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5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96.91%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5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97.6%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 Normal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0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0.994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0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 COVID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5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5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 Pneumonia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0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0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A4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5" name="Google Shape;195;p9"/>
          <p:cNvSpPr/>
          <p:nvPr/>
        </p:nvSpPr>
        <p:spPr>
          <a:xfrm>
            <a:off x="4846320" y="239572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Per-Class F1-Score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846320" y="2834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720840" y="2907792"/>
            <a:ext cx="1890979" cy="228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8657539" y="28346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94%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846320" y="3520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COVID-19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720840" y="3593592"/>
            <a:ext cx="1971446" cy="22860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8738006" y="35204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98%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846320" y="4206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Pneumonia/CAP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720840" y="4279392"/>
            <a:ext cx="1991563" cy="228600"/>
          </a:xfrm>
          <a:prstGeom prst="rect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8758123" y="42062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99%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846320" y="45720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Normal cases score slightly lower (F1=0.94) as early-stage COVID-19 shares subtle CT features with healthy lung parenchyma.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6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Cross-Dataset Evaluation &amp; Ablation Study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" name="Google Shape;214;p10"/>
          <p:cNvGraphicFramePr/>
          <p:nvPr/>
        </p:nvGraphicFramePr>
        <p:xfrm>
          <a:off x="457200" y="1481328"/>
          <a:ext cx="5029175" cy="1645875"/>
        </p:xfrm>
        <a:graphic>
          <a:graphicData uri="http://schemas.openxmlformats.org/drawingml/2006/table">
            <a:tbl>
              <a:tblPr>
                <a:noFill/>
                <a:tableStyleId>{239C4189-D21E-46F8-8BD2-263BEA24F9C2}</a:tableStyleId>
              </a:tblPr>
              <a:tblGrid>
                <a:gridCol w="155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(test)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COVID-CT-MD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887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96.96%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96.96%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Kaggle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97.94%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97.83%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BMIC2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76.92%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76.64%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MosMedData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66.67%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80.00%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5" name="Google Shape;215;p10"/>
          <p:cNvSpPr/>
          <p:nvPr/>
        </p:nvSpPr>
        <p:spPr>
          <a:xfrm>
            <a:off x="457200" y="32461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Domain Shift Insight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57200" y="3566160"/>
            <a:ext cx="41148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Large, well-represented datasets: 96–97% accuracy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Small, out-of-domain: drops to 67–77%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BMIC2 (13 samples), MosMedData (6 samples) → noisy estimates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misclassification = 8–17% accuracy shift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PCA confirms separate feature clusters for BMIC2 &amp; MosMedData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737902" y="1070975"/>
            <a:ext cx="2555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Ablation Study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644150" y="1531625"/>
            <a:ext cx="2555700" cy="38520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644155" y="1465355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ResNet-50 Baseline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7310613" y="1660874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65.00%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644150" y="2126625"/>
            <a:ext cx="2555700" cy="502800"/>
          </a:xfrm>
          <a:prstGeom prst="rect">
            <a:avLst/>
          </a:prstGeom>
          <a:solidFill>
            <a:srgbClr val="1C4D6B"/>
          </a:solidFill>
          <a:ln w="12700" cap="flat" cmpd="sng">
            <a:solidFill>
              <a:srgbClr val="1C4D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5644152" y="2126300"/>
            <a:ext cx="1572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AGCA Visual Only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7310627" y="2361454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96.45%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644150" y="2787250"/>
            <a:ext cx="2555700" cy="59430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5644155" y="278350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AGCA Full Hybrid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7310614" y="3061984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96.91%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049793" y="3539385"/>
            <a:ext cx="3931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Symbolic Fusion adds +0.46% accuracy gain (modest because indicator targets are synthetic from class labels, not radiologist-verified annotations).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754918" y="4251965"/>
            <a:ext cx="3931800" cy="50280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4846320" y="4284260"/>
            <a:ext cx="37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MosMedData has highest feature distance from Kaggle (0.08 on domain discrepancy heatmap) — requiring the most adaptation.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Grad-CAM Explainability &amp; Domain Analysis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457200" y="1097280"/>
            <a:ext cx="4114800" cy="3794760"/>
          </a:xfrm>
          <a:prstGeom prst="rect">
            <a:avLst/>
          </a:prstGeom>
          <a:solidFill>
            <a:srgbClr val="1A3047"/>
          </a:solidFill>
          <a:ln w="1015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48640" y="11887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Grad-CAM Analysis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548650" y="1508750"/>
            <a:ext cx="3840600" cy="3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Applied to: </a:t>
            </a:r>
            <a: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layer4[-1] (final conv block)</a:t>
            </a: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Findings:</a:t>
            </a:r>
            <a:br>
              <a:rPr lang="en-US" sz="12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• Model consistently focuses on lung parenchyma</a:t>
            </a: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• Peripheral regions show highest activation (GGO hallmark)</a:t>
            </a: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• Background (ribs, mediastinum) — minimal activation</a:t>
            </a: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• Clinically meaningful patterns WITHOUT U-Net segmentation</a:t>
            </a: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Significance:</a:t>
            </a:r>
            <a:br>
              <a:rPr lang="en-US" sz="12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Warm colors (red/orange) = highest attention zones, confirming the model learned clinically relevant features, not confounders.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754880" y="1097280"/>
            <a:ext cx="4023360" cy="3794760"/>
          </a:xfrm>
          <a:prstGeom prst="rect">
            <a:avLst/>
          </a:prstGeom>
          <a:solidFill>
            <a:srgbClr val="1A3047"/>
          </a:solidFill>
          <a:ln w="1015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PCA Domain Analysis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846320" y="1554480"/>
            <a:ext cx="3840480" cy="324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Feature Space Findings:</a:t>
            </a:r>
            <a:br>
              <a:rPr lang="en-US" sz="12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• COVID-CT-MD (dominant): occupies large region</a:t>
            </a: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• Kaggle: overlaps substantially with COVID-CT-MD</a:t>
            </a: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• BMIC2 + MosMedData: cluster separately → explains lower cross-domain accuracy</a:t>
            </a: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Domain Discrepancy Heatmap:</a:t>
            </a:r>
            <a:br>
              <a:rPr lang="en-US" sz="12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Higher pairwise distance = more domain shift. MosMedData ↔ Kaggle shows max distance (0.08), validating the base paper's findings.</a:t>
            </a: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Adaptation Embedding:</a:t>
            </a:r>
            <a:br>
              <a:rPr lang="en-US" sz="12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Source (blue) → Target (red) → Adapted (green) features converging toward shared representation under adversarial alignment.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99FADE-C5C0-BCAA-90AC-BE35AF425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8605"/>
            <a:ext cx="5350772" cy="4112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AD1A0F-0C8B-A90A-DAA0-D604C19E7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277" y="617230"/>
            <a:ext cx="3829723" cy="44731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5671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6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Limitations &amp; Future Work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457200" y="1097276"/>
            <a:ext cx="4114800" cy="1463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457200" y="1097280"/>
            <a:ext cx="4114800" cy="41148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548640" y="11430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🔬  No U-Net Segmentation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548650" y="1572775"/>
            <a:ext cx="38862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Most impactful missing component. Without lung masks, model exposed to confounding ribs/mediastinum → features may not generalize across scanners.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4800600" y="1097275"/>
            <a:ext cx="3886200" cy="1463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4800600" y="1097275"/>
            <a:ext cx="3886200" cy="457200"/>
          </a:xfrm>
          <a:prstGeom prst="rect">
            <a:avLst/>
          </a:prstGeom>
          <a:solidFill>
            <a:srgbClr val="8B4513"/>
          </a:solidFill>
          <a:ln w="12700" cap="flat" cmpd="sng">
            <a:solidFill>
              <a:srgbClr val="8B45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4892050" y="1143000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  No Formal DAFA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4892050" y="1572775"/>
            <a:ext cx="37947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 approximated domain-adversarial adaptation. A proper gradient reversal layer would substantially improve BMIC2 &amp; MosMedData performance.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467875" y="2740074"/>
            <a:ext cx="4114800" cy="1463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467875" y="2740070"/>
            <a:ext cx="4114800" cy="411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559315" y="278579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  Only 10 Epochs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559325" y="3215552"/>
            <a:ext cx="38862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 paper trained 50 epochs with early stopping (patience=10). Our curves suggest the model had not fully converged — cosine annealing caused oscillation.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4811275" y="2740075"/>
            <a:ext cx="3886200" cy="1463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4811275" y="2740075"/>
            <a:ext cx="3886200" cy="45720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4902725" y="2785800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Tiny Test Subsets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902725" y="3215550"/>
            <a:ext cx="36981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BMIC2 (13 samples), MosMedData (6 samples) — one error = 8-17% swing. Estimates are statistically unreliable for these domains.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457200" y="4382873"/>
            <a:ext cx="8229600" cy="5028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548690" y="438288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Future Work: (1) U-Net segmentation preprocessing  (2) Gradient reversal DAFA  (3) Deformable convolutions (ADM)  (4) 50+ epoch training  (5) Prospective clinical dataset validation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457200" y="1097280"/>
            <a:ext cx="8229600" cy="841248"/>
          </a:xfrm>
          <a:prstGeom prst="rect">
            <a:avLst/>
          </a:prstGeom>
          <a:solidFill>
            <a:srgbClr val="1A3047"/>
          </a:solidFill>
          <a:ln w="12700" cap="flat" cmpd="sng">
            <a:solidFill>
              <a:srgbClr val="2A4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457200" y="1097280"/>
            <a:ext cx="64008" cy="841248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640080" y="11430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✅  Core Validated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640075" y="1463048"/>
            <a:ext cx="7863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AGCA Hybrid Model achieved 96.91% accuracy &amp; AUC 0.994–1.000, closely matching the base paper's 97.7% / 0.996 under heavily constrained compute (Tesla T4, 10 epochs).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57200" y="2057400"/>
            <a:ext cx="8229600" cy="841248"/>
          </a:xfrm>
          <a:prstGeom prst="rect">
            <a:avLst/>
          </a:prstGeom>
          <a:solidFill>
            <a:srgbClr val="1A3047"/>
          </a:solidFill>
          <a:ln w="12700" cap="flat" cmpd="sng">
            <a:solidFill>
              <a:srgbClr val="2A4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457200" y="2057400"/>
            <a:ext cx="64008" cy="841248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640080" y="21031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🌐  Domain Shift Confirmed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640080" y="24231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Strong on large datasets (COVID-CT-MD: 96.96%, Kaggle: 97.94%). Performance drops on small out-of-domain sets, consistent with base paper findings.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457200" y="3017520"/>
            <a:ext cx="8229600" cy="841248"/>
          </a:xfrm>
          <a:prstGeom prst="rect">
            <a:avLst/>
          </a:prstGeom>
          <a:solidFill>
            <a:srgbClr val="1A3047"/>
          </a:solidFill>
          <a:ln w="12700" cap="flat" cmpd="sng">
            <a:solidFill>
              <a:srgbClr val="2A4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457200" y="3017520"/>
            <a:ext cx="64008" cy="841248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640080" y="30632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🧠  Symbolic Fusion Works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640080" y="33832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6F6"/>
                </a:solidFill>
                <a:latin typeface="Calibri"/>
                <a:ea typeface="Calibri"/>
                <a:cs typeface="Calibri"/>
                <a:sym typeface="Calibri"/>
              </a:rPr>
              <a:t>Adds +0.46% accuracy with clinically meaningful Grad-CAM attention — even without radiologist-verified indicators or U-Net segmentation.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457225" y="4233648"/>
            <a:ext cx="8229600" cy="502800"/>
          </a:xfrm>
          <a:prstGeom prst="rect">
            <a:avLst/>
          </a:prstGeom>
          <a:solidFill>
            <a:srgbClr val="0A8A8A"/>
          </a:solidFill>
          <a:ln w="12700" cap="flat" cmpd="sng">
            <a:solidFill>
              <a:srgbClr val="0A8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457190" y="427938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"This reproduction validates the hybrid neuro-symbolic approach as achievable under constrained conditions — domain adaptation remains the most critical path to clinical deployment."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1244</Words>
  <Application>Microsoft Office PowerPoint</Application>
  <PresentationFormat>On-screen Show (16:9)</PresentationFormat>
  <Paragraphs>285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Nageen Ehsan</cp:lastModifiedBy>
  <cp:revision>2</cp:revision>
  <dcterms:modified xsi:type="dcterms:W3CDTF">2026-05-08T13:03:06Z</dcterms:modified>
</cp:coreProperties>
</file>